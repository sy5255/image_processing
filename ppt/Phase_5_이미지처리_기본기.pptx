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 처리 기본기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계측을 위한 전처리 툴킷 익히기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41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  ·  파이썬 이미지 처리 계측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다루는 내용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측정에 들어가기 전, 이미지를 다듬는 전처리 기법들을 익힙니다. 목표는 "특정 층을 깔끔하게 분리"하는 것입니다.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밝기·대비 보정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965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0448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히스토그램 평활화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2900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equalization · CLAHE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7830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965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93408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노이즈 제거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17920" y="236829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gaussian · median · bilateral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5568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이진화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36027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 · Otsu · adaptive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04488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모폴로지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429000" y="36027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열림 · 닫힘 · 침식 · 팽창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30175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93408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엣지·윤곽선·마스크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217920" y="36027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Canny · contour · inRange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밝기·대비 보정: normalization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TEM 은 대비가 낮은 경우가 많습니다. 정규화는 픽셀값 범위를 0~255 로 늘려 층 경계를 또렷하게 만듭니다.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931920" cy="12801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468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 = cv2.normalize(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img, None,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0, 255,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cv2.NORM_MINMAX)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09160" y="1554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원본 (저대비)</a:t>
            </a:r>
            <a:endParaRPr lang="en-US" sz="1100" dirty="0"/>
          </a:p>
        </p:txBody>
      </p:sp>
      <p:pic>
        <p:nvPicPr>
          <p:cNvPr id="8" name="Image 0" descr="/home/claude/p5img/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828800"/>
            <a:ext cx="1874520" cy="1249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09160" y="1828800"/>
            <a:ext cx="1874520" cy="124968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554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정규화 후</a:t>
            </a:r>
            <a:endParaRPr lang="en-US" sz="1100" dirty="0"/>
          </a:p>
        </p:txBody>
      </p:sp>
      <p:pic>
        <p:nvPicPr>
          <p:cNvPr id="11" name="Image 1" descr="/home/claude/p5img/normaliz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1874520" cy="1249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720840" y="1828800"/>
            <a:ext cx="1874520" cy="124968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히스토그램 평활화 · CLAHE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평활화(equalizeHist)는 밝기 분포를 고르게 펴 대비를 높입니다. CLAHE 는 영역별로 적용해 밝기 편차가 큰 TEM 에 더 적합합니다.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원본</a:t>
            </a:r>
            <a:endParaRPr lang="en-US" sz="1100" dirty="0"/>
          </a:p>
        </p:txBody>
      </p:sp>
      <p:pic>
        <p:nvPicPr>
          <p:cNvPr id="6" name="Image 0" descr="/home/claude/p5img/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246888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3756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equalizeHist (전역)</a:t>
            </a:r>
            <a:endParaRPr lang="en-US" sz="1100" dirty="0"/>
          </a:p>
        </p:txBody>
      </p:sp>
      <p:pic>
        <p:nvPicPr>
          <p:cNvPr id="9" name="Image 1" descr="/home/claude/p5img/equaliz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103120"/>
            <a:ext cx="2468880" cy="1645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8932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CLAHE (적응형)</a:t>
            </a:r>
            <a:endParaRPr lang="en-US" sz="1100" dirty="0"/>
          </a:p>
        </p:txBody>
      </p:sp>
      <p:pic>
        <p:nvPicPr>
          <p:cNvPr id="12" name="Image 2" descr="/home/claude/p5img/clah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03120"/>
            <a:ext cx="2468880" cy="16459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98932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clahe = cv2.createCLAHE(clipLimit=2.5, tileGridSize=(8,8)).apply(img)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노이즈 제거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 전 노이즈를 줄입니다. Gaussian 은 부드럽게, Median 은 점잡음에 강하고, Bilateral 은 경계를 보존합니다.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원본 (노이즈)</a:t>
            </a:r>
            <a:endParaRPr lang="en-US" sz="1100" dirty="0"/>
          </a:p>
        </p:txBody>
      </p:sp>
      <p:pic>
        <p:nvPicPr>
          <p:cNvPr id="6" name="Image 0" descr="/home/claude/p5img/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246888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3756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GaussianBlur</a:t>
            </a:r>
            <a:endParaRPr lang="en-US" sz="1100" dirty="0"/>
          </a:p>
        </p:txBody>
      </p:sp>
      <p:pic>
        <p:nvPicPr>
          <p:cNvPr id="9" name="Image 1" descr="/home/claude/p5img/gauss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103120"/>
            <a:ext cx="2468880" cy="1645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8932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medianBlur</a:t>
            </a:r>
            <a:endParaRPr lang="en-US" sz="1100" dirty="0"/>
          </a:p>
        </p:txBody>
      </p:sp>
      <p:pic>
        <p:nvPicPr>
          <p:cNvPr id="12" name="Image 2" descr="/home/claude/p5img/medi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03120"/>
            <a:ext cx="2468880" cy="16459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98932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cv2.GaussianBlur(img, (5,5), 0)      m = cv2.medianBlur(img, 5)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이진화: 층/배경 나누기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밝기 기준으로 흑/백으로 나눕니다. Otsu 는 임계값을 자동으로 정하고, Adaptive 는 영역별로 다른 임계값을 씁니다.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 (노이즈 제거)</a:t>
            </a:r>
            <a:endParaRPr lang="en-US" sz="1100" dirty="0"/>
          </a:p>
        </p:txBody>
      </p:sp>
      <p:pic>
        <p:nvPicPr>
          <p:cNvPr id="6" name="Image 0" descr="/home/claude/p5img/gauss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246888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3756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Otsu (자동 임계)</a:t>
            </a:r>
            <a:endParaRPr lang="en-US" sz="1100" dirty="0"/>
          </a:p>
        </p:txBody>
      </p:sp>
      <p:pic>
        <p:nvPicPr>
          <p:cNvPr id="9" name="Image 1" descr="/home/claude/p5img/ots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103120"/>
            <a:ext cx="2468880" cy="1645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8932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Adaptive (영역별)</a:t>
            </a:r>
            <a:endParaRPr lang="en-US" sz="1100" dirty="0"/>
          </a:p>
        </p:txBody>
      </p:sp>
      <p:pic>
        <p:nvPicPr>
          <p:cNvPr id="12" name="Image 2" descr="/home/claude/p5img/adapti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03120"/>
            <a:ext cx="2468880" cy="16459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98932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_, b = cv2.threshold(img, 0, 255, cv2.THRESH_BINARY + cv2.THRESH_OTSU)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모폴로지: 이진 이미지 다듬기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이진화 후 남은 점잡음·구멍을 정리합니다. 열림(opening)은 작은 흰 점을 제거하고, 닫힘(closing)은 작은 검은 구멍을 메웁니다.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점잡음 있는 이진</a:t>
            </a:r>
            <a:endParaRPr lang="en-US" sz="1100" dirty="0"/>
          </a:p>
        </p:txBody>
      </p:sp>
      <p:pic>
        <p:nvPicPr>
          <p:cNvPr id="6" name="Image 0" descr="/home/claude/p5img/bin_speck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246888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3756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열림 (점 제거)</a:t>
            </a:r>
            <a:endParaRPr lang="en-US" sz="1100" dirty="0"/>
          </a:p>
        </p:txBody>
      </p:sp>
      <p:pic>
        <p:nvPicPr>
          <p:cNvPr id="9" name="Image 1" descr="/home/claude/p5img/ope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103120"/>
            <a:ext cx="2468880" cy="1645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3756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89320" y="18288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닫힘 (구멍 메움)</a:t>
            </a:r>
            <a:endParaRPr lang="en-US" sz="1100" dirty="0"/>
          </a:p>
        </p:txBody>
      </p:sp>
      <p:pic>
        <p:nvPicPr>
          <p:cNvPr id="12" name="Image 2" descr="/home/claude/p5img/clos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03120"/>
            <a:ext cx="2468880" cy="16459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989320" y="2103120"/>
            <a:ext cx="2468880" cy="164592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cv2.getStructuringElement(cv2.MORPH_ELLIPSE,(5,5));  cv2.morphologyEx(b, cv2.MORPH_OPEN, k)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엣지 검출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밝기가 급변하는 경계(엣지)를 찾습니다. Sobel 은 기울기, Canny 는 깔끔한 엣지 선을 줍니다. 층 경계 위치 파악에 쓰입니다.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3931920" cy="100584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697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 = cv2.Canny(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img, 40, 120)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09160" y="1554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입력</a:t>
            </a:r>
            <a:endParaRPr lang="en-US" sz="1100" dirty="0"/>
          </a:p>
        </p:txBody>
      </p:sp>
      <p:pic>
        <p:nvPicPr>
          <p:cNvPr id="8" name="Image 0" descr="/home/claude/p5img/gaussi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828800"/>
            <a:ext cx="1874520" cy="1249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09160" y="1828800"/>
            <a:ext cx="1874520" cy="124968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554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Canny 엣지</a:t>
            </a:r>
            <a:endParaRPr lang="en-US" sz="1100" dirty="0"/>
          </a:p>
        </p:txBody>
      </p:sp>
      <p:pic>
        <p:nvPicPr>
          <p:cNvPr id="11" name="Image 1" descr="/home/claude/p5img/cann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1874520" cy="1249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720840" y="1828800"/>
            <a:ext cx="1874520" cy="124968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윤곽선(contour) 검출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이진 이미지에서 영역의 외곽선을 찾습니다. 각 윤곽선의 면적·둘레·위치를 측정에 활용합니다.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931920" cy="12801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468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cnts, _ = cv2.findContours(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b, cv2.RETR_EXTERNAL,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cv2.CHAIN_APPROX_SIMPLE)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cv2.contourArea(cnts[0])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09160" y="1554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이진 영역</a:t>
            </a:r>
            <a:endParaRPr lang="en-US" sz="1100" dirty="0"/>
          </a:p>
        </p:txBody>
      </p:sp>
      <p:pic>
        <p:nvPicPr>
          <p:cNvPr id="8" name="Image 0" descr="/home/claude/p5img/ope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828800"/>
            <a:ext cx="1874520" cy="1249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09160" y="1828800"/>
            <a:ext cx="1874520" cy="124968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554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윤곽선 표시</a:t>
            </a:r>
            <a:endParaRPr lang="en-US" sz="1100" dirty="0"/>
          </a:p>
        </p:txBody>
      </p:sp>
      <p:pic>
        <p:nvPicPr>
          <p:cNvPr id="11" name="Image 1" descr="/home/claude/p5img/conto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1874520" cy="1249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720840" y="1828800"/>
            <a:ext cx="1874520" cy="124968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윤곽선 그리기와 컬러 오버레이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findContours 로 찾은 윤곽선을 drawContours 로 그립니다. 검출은 이진 이미지에서, 표시는 원본 그레이스케일 위에 합니다.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핵심: 그레이스케일은 1채널이라 색이 표현되지 않습니다. </a:t>
            </a:r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cv2.cvtColor(gray, COLOR_GRAY2BGR)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 로 3채널로 바꾼 뒤 컬러 윤곽선을 얹습니다.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4023360" cy="164592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83464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1채널 그레이 -&gt; 3채널(BGR) 변환이 필수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 = cv2.cvtColor(gray, cv2.COLOR_GRAY2BGR)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cv2.drawContours(vis, cnts, -1, (136,148,13), 2)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cv2.drawContours(vis, [big], -1, (60,60,220), 2)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00600" y="16916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그레이스케일 위에 컬러 윤곽선</a:t>
            </a:r>
            <a:endParaRPr lang="en-US" sz="1100" dirty="0"/>
          </a:p>
        </p:txBody>
      </p:sp>
      <p:pic>
        <p:nvPicPr>
          <p:cNvPr id="9" name="Image 0" descr="/home/claude/p5img/contour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965960"/>
            <a:ext cx="3703320" cy="2468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00600" y="1965960"/>
            <a:ext cx="3703320" cy="246888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452628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반투명으로 영역을 채우려면 색을 채운 사본을 만들어 cv2.addWeighted 로 원본과 섞습니다.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값 기반 마스크 생성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특정 밝기 구간(또는 컬러 범위)에 해당하는 픽셀만 골라 마스크를 만듭니다. 원하는 층만 분리하는 방법입니다.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3931920" cy="128016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46888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밝기 140~255 인 픽셀만 선택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cv2.inRange(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img, 140, 255)</a:t>
            </a:r>
            <a:endParaRPr lang="en-US" sz="11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컬러는 (B,G,R) 하한·상한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09160" y="1554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원본</a:t>
            </a:r>
            <a:endParaRPr lang="en-US" sz="1100" dirty="0"/>
          </a:p>
        </p:txBody>
      </p:sp>
      <p:pic>
        <p:nvPicPr>
          <p:cNvPr id="8" name="Image 0" descr="/home/claude/p5img/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828800"/>
            <a:ext cx="1874520" cy="1249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09160" y="1828800"/>
            <a:ext cx="1874520" cy="124968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20840" y="15544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밝은 층 마스크</a:t>
            </a:r>
            <a:endParaRPr lang="en-US" sz="1100" dirty="0"/>
          </a:p>
        </p:txBody>
      </p:sp>
      <p:pic>
        <p:nvPicPr>
          <p:cNvPr id="11" name="Image 1" descr="/home/claude/p5img/mask_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28800"/>
            <a:ext cx="1874520" cy="1249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720840" y="1828800"/>
            <a:ext cx="1874520" cy="124968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전형적인 전처리 흐름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06640" y="457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W12–W14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실제 계측에서는 이 기법들을 순서대로 연결해 "원본 → 깨끗한 이진/윤곽선"을 만듭니다.</a:t>
            </a:r>
            <a:endParaRPr lang="en-US" sz="1400" dirty="0"/>
          </a:p>
        </p:txBody>
      </p:sp>
      <p:pic>
        <p:nvPicPr>
          <p:cNvPr id="5" name="Image 0" descr="/home/claude/p5img/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331720"/>
            <a:ext cx="1463040" cy="975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2331720"/>
            <a:ext cx="1463040" cy="97536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3352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원본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92808" y="281940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pic>
        <p:nvPicPr>
          <p:cNvPr id="9" name="Image 1" descr="/home/claude/p5img/gaussi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2331720"/>
            <a:ext cx="1463040" cy="9753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30552" y="2331720"/>
            <a:ext cx="1463040" cy="97536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130552" y="3352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노이즈 제거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11880" y="281940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pic>
        <p:nvPicPr>
          <p:cNvPr id="13" name="Image 2" descr="/home/claude/p5img/ots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24" y="2331720"/>
            <a:ext cx="1463040" cy="97536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849624" y="2331720"/>
            <a:ext cx="1463040" cy="97536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849624" y="3352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이진화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330952" y="281940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pic>
        <p:nvPicPr>
          <p:cNvPr id="17" name="Image 3" descr="/home/claude/p5img/ope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2331720"/>
            <a:ext cx="1463040" cy="9753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568696" y="2331720"/>
            <a:ext cx="1463040" cy="97536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568696" y="3352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모폴로지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050024" y="2819400"/>
            <a:ext cx="23774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pic>
        <p:nvPicPr>
          <p:cNvPr id="21" name="Image 4" descr="/home/claude/p5img/contou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7768" y="2331720"/>
            <a:ext cx="1463040" cy="97536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287768" y="2331720"/>
            <a:ext cx="1463040" cy="975360"/>
          </a:xfrm>
          <a:prstGeom prst="rect">
            <a:avLst/>
          </a:prstGeom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287768" y="3352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윤곽선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단계 결과를 변수로 보존하면(Phase 3) 어디서 틀어졌는지 쉽게 되짚을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전처리로 층 분리하기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정규화·평활화로 대비를 높이기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노이즈 제거 후 Otsu 로 이진화하기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모폴로지로 정리하고 특정 층만 마스크로 분리하기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05_preprocessing.ipynb · 05_practice.ipynb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5 · 이미지 처리 기본기</dc:title>
  <dc:subject>PptxGenJS Presentation</dc:subject>
  <dc:creator>교육팀</dc:creator>
  <cp:lastModifiedBy>교육팀</cp:lastModifiedBy>
  <cp:revision>1</cp:revision>
  <dcterms:created xsi:type="dcterms:W3CDTF">2026-07-02T03:26:50Z</dcterms:created>
  <dcterms:modified xsi:type="dcterms:W3CDTF">2026-07-02T03:26:50Z</dcterms:modified>
</cp:coreProperties>
</file>
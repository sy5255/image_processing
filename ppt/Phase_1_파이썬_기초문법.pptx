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34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PHASE 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파이썬 기초 문법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계측 코드 작성에 필요한 핵심 문법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4041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W2–W5  ·  파이썬 이미지 처리 계측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다루는 내용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406640" y="4754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W2–W5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계측 코드 작성에 필요한 핵심 문법을 4주에 걸쳐 다룹니다. 객체지향 등 고급 문법은 다루지 않습니다.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01168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15568" y="19842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변수 · 자료형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3957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수치·문자·논리값의 저장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8288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201168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904488" y="19842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list · tuple · dict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000" y="23957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측정값·좌표 저장, 추가·수정·제거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8288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201168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693408" y="19842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인덱싱 · 슬라이싱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23957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부분 선택 (ROI 의 기초)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0632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24612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115568" y="32186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조건문 · 반복문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36301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if · for · while 흐름 제어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46120" y="30632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29000" y="324612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342900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3904488" y="32186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enumerate · zip · continue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429000" y="36301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반복 처리 보조 도구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35040" y="30632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324612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6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6693408" y="32186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함수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17920" y="36301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코드의 재사용 단위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변수와 자료형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406640" y="4754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W2–W5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변수는 값을 저장하는 공간이며, </a:t>
            </a:r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= 기호로 값을 할당합니다.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자료형 4종: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정수(int), 실수(float),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문자열(str), 논리값(bool)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754880" y="1188720"/>
            <a:ext cx="3931920" cy="2139696"/>
          </a:xfrm>
          <a:prstGeom prst="roundRect">
            <a:avLst>
              <a:gd name="adj" fmla="val 213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92040" y="1298448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 = 0.25        # float, nm/pixel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"layer_A"    # str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= 12          # int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 = True           # bool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type(scale)   # &lt;class 'float'&gt;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54880" y="3511296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계측에서 픽셀 크기·측정값은 float, 개수는 int, 합격 여부는 bool 로 표현합니다.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list · tuple · dict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406640" y="4754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W2–W5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여러 값을 하나의 변수에 저장합니다.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list </a:t>
            </a:r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[ ] — 순서 있음, 수정 가능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tuple </a:t>
            </a:r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 ) — 수정 불가(고정 좌표)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dict </a:t>
            </a:r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{ } — 이름:값 쌍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754880" y="1188720"/>
            <a:ext cx="3931920" cy="2139696"/>
          </a:xfrm>
          <a:prstGeom prst="roundRect">
            <a:avLst>
              <a:gd name="adj" fmla="val 213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92040" y="1298448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widths = [12.1, 11.8, 12.4]   # list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  = (128, 64)           # tuple (x,y)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{"name": "A",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"thk": 12.4}        # dict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result["thk"]    # 12.4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54880" y="3511296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측정값 모음은 list, 좌표는 tuple, 단일 측정의 속성 집합은 dict 로 표현합니다.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자료구조: 값 추가 · 수정 · 제거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406640" y="4754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W2–W5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측정 결과를 누적하고 정리하기 위해 각 자료구조의 값 추가·수정·제거 방법을 익힙니다.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457200" y="16276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6B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993392"/>
            <a:ext cx="4160520" cy="2011680"/>
          </a:xfrm>
          <a:prstGeom prst="roundRect">
            <a:avLst>
              <a:gd name="adj" fmla="val 227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103120"/>
            <a:ext cx="388620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[12.1, 11.8]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w.append(12.4)    # 끝에 추가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w[0] = 12.0       # 인덱스로 수정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w.remove(11.8)    # 값으로 제거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w.pop(0)          # 위치로 제거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800600" y="16276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6B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800600" y="1993392"/>
            <a:ext cx="3886200" cy="1700784"/>
          </a:xfrm>
          <a:prstGeom prst="roundRect">
            <a:avLst>
              <a:gd name="adj" fmla="val 268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2103120"/>
            <a:ext cx="36118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{"name": "A"}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d["thk"] = 12.4   # 키 추가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d["thk"] = 13.0   # 같은 키=수정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d["name"]     # 키 제거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800600" y="3840480"/>
            <a:ext cx="3886200" cy="9144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83480" y="3950208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tuple 은 불변(immutable):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34E4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추가·수정·제거가 불가능하며, 변경이 필요하면 새 튜플을 생성합니다.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4160520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측정 위치를 하나씩 추가(append)하고, 실패한 값을 제거(remove/pop)하는 패턴은 Phase 6 계측에서 사용됩니다.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인덱싱 및 슬라이싱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406640" y="4754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W2–W5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자료구조에서 원하는 부분을 선택합니다.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인덱스는 0부터 시작합니다.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[i] </a:t>
            </a:r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단일 요소 선택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[a:b] </a:t>
            </a:r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 이상 b 미만 구간 선택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754880" y="1188720"/>
            <a:ext cx="3931920" cy="182880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92040" y="1298448"/>
            <a:ext cx="365760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[12.1, 11.8, 12.4, 13.0]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w[0]      # 12.1  (첫 번째)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w[-1]     # 13.0  (마지막)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w[1:3]    # [11.8, 12.4]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w[:2]     # [12.1, 11.8]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54880" y="320040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 슬라이싱 문법은 이미지에서 ROI(관심 영역)를 선택하는 방식으로 이어집니다.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조건문 (if · elif · else)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406640" y="4754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W2–W5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조건에 따라 분기하여 실행합니다.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들여쓰기(공백 4칸)로 코드 블록을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구분하는 것이 파이썬의 기본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규칙입니다.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754880" y="1188720"/>
            <a:ext cx="3931920" cy="2450592"/>
          </a:xfrm>
          <a:prstGeom prst="roundRect">
            <a:avLst>
              <a:gd name="adj" fmla="val 186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92040" y="1298448"/>
            <a:ext cx="365760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thk = 12.4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thk &gt; 13: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print("두꺼움")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thk &lt; 11: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print("얇음")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print("정상")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54880" y="3822192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측정값의 규격 충족 여부를 판정하는 데 사용됩니다.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반복문 (for · range)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406640" y="4754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W2–W5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동일한 처리를 반복 수행합니다.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for </a:t>
            </a:r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는 자료구조의 요소를 순회하고,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range </a:t>
            </a:r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는 지정 횟수만큼 반복합니다.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754880" y="1188720"/>
            <a:ext cx="3931920" cy="2139696"/>
          </a:xfrm>
          <a:prstGeom prst="roundRect">
            <a:avLst>
              <a:gd name="adj" fmla="val 213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92040" y="1298448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widths = [12.1, 11.8, 12.4]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w in widths: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print(w * 0.25)   # nm 환산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range(3):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print(i)          # 0,1,2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54880" y="3511296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다수의 위치에서 반복 측정을 수행할 때 핵심이 되는 구조입니다.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반복문 (while)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406640" y="4754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W2–W5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조건이 참인 동안 반복 수행합니다.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반복 횟수가 사전에 정해지지 않고,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특정 조건이 충족될 때까지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수행해야 할 때 사용합니다.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754880" y="1188720"/>
            <a:ext cx="3931920" cy="2139696"/>
          </a:xfrm>
          <a:prstGeom prst="roundRect">
            <a:avLst>
              <a:gd name="adj" fmla="val 213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92040" y="1298448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0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i &lt; 3: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print(i)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= i + 1      # 미증가 시 무한 반복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 가 3이 되면 종료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54880" y="3511296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조건 갱신 구문을 누락하면 반복이 종료되지 않으므로 유의합니다.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enumerate · zip · continue · break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406640" y="4754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W2–W5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반복을 보다 효율적으로 처리하는 도구.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enumerate </a:t>
            </a:r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인덱스와 값 동시 제공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zip </a:t>
            </a:r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두 자료구조를 짝지어 순회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continue </a:t>
            </a:r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현재 반복 건너뜀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break </a:t>
            </a:r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반복 즉시 종료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754880" y="1188720"/>
            <a:ext cx="3931920" cy="2450592"/>
          </a:xfrm>
          <a:prstGeom prst="roundRect">
            <a:avLst>
              <a:gd name="adj" fmla="val 186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92040" y="1298448"/>
            <a:ext cx="365760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i, w in enumerate(widths):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w is None: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continue   # 실패값 건너뜀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print(i, w)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x, y in zip(xs, ys):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print(x, y)   # 좌표 짝짓기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54880" y="3822192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측정 실패 위치를 continue 로 건너뛰는 패턴은 Phase 6 에서 동일하게 사용됩니다.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함수 (def · return)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406640" y="4754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W2–W5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코드에 이름을 부여하여 재사용합니다.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def </a:t>
            </a:r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로 정의하고, 인자를 입력받아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return </a:t>
            </a:r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으로 결과를 반환합니다.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754880" y="1188720"/>
            <a:ext cx="3931920" cy="2139696"/>
          </a:xfrm>
          <a:prstGeom prst="roundRect">
            <a:avLst>
              <a:gd name="adj" fmla="val 213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92040" y="1298448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px_to_nm(px, scale):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px * scale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px_to_nm(50, 0.25)   # 12.5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동일 계산을 반복 작성할 필요 없음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54880" y="3511296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자유 형식 스크립트에서도 함수로 정리하면 계측 코드의 가독성과 재사용성이 향상됩니다.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적용 예: 측정값 평균 계산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406640" y="4754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W2–W5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측정값 리스트의 평균을 계산하는 함수입니다. list · for · 함수가 함께 사용됩니다.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029200" cy="2468880"/>
          </a:xfrm>
          <a:prstGeom prst="roundRect">
            <a:avLst>
              <a:gd name="adj" fmla="val 185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01368"/>
            <a:ext cx="475488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average(values):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0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v in values: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total = total + v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total / len(values)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widths = [12.1, 11.8, 12.4, 13.0]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average(widths)      # 12.325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0" y="1691640"/>
            <a:ext cx="3017520" cy="2468880"/>
          </a:xfrm>
          <a:prstGeom prst="roundRect">
            <a:avLst>
              <a:gd name="adj" fmla="val 2963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897880" y="1874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직접 구현하는 이유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897880" y="2240280"/>
            <a:ext cx="2606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300" dirty="0">
                <a:solidFill>
                  <a:srgbClr val="134E4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지금은 평균을 직접 구현하고, 이후 NumPy(np.mean)로 대체합니다. 원리를 먼저 이해하는 것이 목적입니다.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51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활용 및 실습 안내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508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는 보조 도구로 활용합니다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오류 메시지의 의미 확인</a:t>
            </a:r>
            <a:endParaRPr lang="en-US" sz="1500" dirty="0"/>
          </a:p>
          <a:p>
            <a:pPr marL="342900" indent="-342900">
              <a:lnSpc>
                <a:spcPts val="26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코드에 대한 단계별 설명 요청</a:t>
            </a:r>
            <a:endParaRPr lang="en-US" sz="1500" dirty="0"/>
          </a:p>
          <a:p>
            <a:pPr marL="342900" indent="-342900">
              <a:lnSpc>
                <a:spcPts val="26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가 제시한 코드는 반드시 직접 실행하여 검증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8862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94A3B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실습: 01_python_basics.ipynb 의 예제를 실행한 후, 01_practice.ipynb 의 문제를 해결하십시오.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1 · 파이썬 기초 문법</dc:title>
  <dc:subject>PptxGenJS Presentation</dc:subject>
  <dc:creator>교육팀</dc:creator>
  <cp:lastModifiedBy>교육팀</cp:lastModifiedBy>
  <cp:revision>1</cp:revision>
  <dcterms:created xsi:type="dcterms:W3CDTF">2026-06-28T15:16:06Z</dcterms:created>
  <dcterms:modified xsi:type="dcterms:W3CDTF">2026-06-28T15:16:06Z</dcterms:modified>
</cp:coreProperties>
</file>
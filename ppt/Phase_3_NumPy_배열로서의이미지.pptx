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PHASE 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863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NumPy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배열로서의 이미지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이미지를 숫자 배열로 다루는 토대 잡기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6052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4041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W7–W9  ·  파이썬 이미지 처리 계측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다루는 내용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406640" y="47548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W7–W9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이미지를 "숫자 배열"로 바라보는 관점을 익힙니다. 이후 모든 이미지 처리·계측이 이 위에서 이뤄집니다.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15568" y="19842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변수에 이미지 담기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23957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img1 에 배열 저장·단계별 보존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82880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29000" y="201168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04488" y="19842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ndarray 기본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29000" y="23957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shape · dtype 로 크기·자료형 파악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182880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201168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93408" y="19842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인덱싱 · 슬라이싱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17920" y="23957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ROI(관심 영역) 잘라내기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063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324612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115568" y="3218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불리언 마스킹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" y="36301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조건을 만족하는 픽셀만 선택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063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29000" y="324612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5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3904488" y="3218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집계 연산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429000" y="36301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평균·표준편차·개수 세기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35040" y="30632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17920" y="3246120"/>
            <a:ext cx="365760" cy="36576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621792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6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693408" y="3218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axis 개념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217920" y="36301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행·열 방향 구분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이미지는 곧 숫자 배열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406640" y="47548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W7–W9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흑백 이미지의 각 픽셀은 밝기값(0=검정 ~ 255=흰색) 하나입니다. 이미지는 이 값들이 행·열로 배열된 2D 격자입니다.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777240" cy="777240"/>
          </a:xfrm>
          <a:prstGeom prst="rect">
            <a:avLst/>
          </a:prstGeom>
          <a:solidFill>
            <a:srgbClr val="000000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00200" y="2011680"/>
            <a:ext cx="777240" cy="777240"/>
          </a:xfrm>
          <a:prstGeom prst="rect">
            <a:avLst/>
          </a:prstGeom>
          <a:solidFill>
            <a:srgbClr val="1E1E1E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77440" y="2011680"/>
            <a:ext cx="777240" cy="777240"/>
          </a:xfrm>
          <a:prstGeom prst="rect">
            <a:avLst/>
          </a:prstGeom>
          <a:solidFill>
            <a:srgbClr val="3C3C3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7744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22960" y="2788920"/>
            <a:ext cx="777240" cy="777240"/>
          </a:xfrm>
          <a:prstGeom prst="rect">
            <a:avLst/>
          </a:prstGeom>
          <a:solidFill>
            <a:srgbClr val="5A5A5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600200" y="2788920"/>
            <a:ext cx="777240" cy="777240"/>
          </a:xfrm>
          <a:prstGeom prst="rect">
            <a:avLst/>
          </a:prstGeom>
          <a:solidFill>
            <a:srgbClr val="969696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0200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77440" y="2788920"/>
            <a:ext cx="777240" cy="777240"/>
          </a:xfrm>
          <a:prstGeom prst="rect">
            <a:avLst/>
          </a:prstGeom>
          <a:solidFill>
            <a:srgbClr val="C8C8C8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3566160"/>
            <a:ext cx="777240" cy="777240"/>
          </a:xfrm>
          <a:prstGeom prst="rect">
            <a:avLst/>
          </a:prstGeom>
          <a:solidFill>
            <a:srgbClr val="DCDCD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566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00200" y="3566160"/>
            <a:ext cx="777240" cy="777240"/>
          </a:xfrm>
          <a:prstGeom prst="rect">
            <a:avLst/>
          </a:prstGeom>
          <a:solidFill>
            <a:srgbClr val="F0F0F0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00200" y="3566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377440" y="3566160"/>
            <a:ext cx="777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77440" y="3566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66160" y="2788920"/>
            <a:ext cx="64008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429000" y="24231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같은 데이터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1828800"/>
            <a:ext cx="4251960" cy="2377440"/>
          </a:xfrm>
          <a:prstGeom prst="roundRect">
            <a:avLst>
              <a:gd name="adj" fmla="val 3077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20116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NumPy 배열(ndarray)로 표현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423160"/>
            <a:ext cx="3840480" cy="160020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2532888"/>
            <a:ext cx="3566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= np.array([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  0,  30,  60],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[ 90, 150, 200],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[220, 240, 255]])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img.shape    # (3, 3)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변수에 이미지 담기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406640" y="47548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W7–W9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가공 단계마다 변수를 나눠 담으면 </a:t>
            </a:r>
            <a:pPr indent="0" marL="0">
              <a:lnSpc>
                <a:spcPts val="24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중간 결과를 언제든 다시 보고 비교</a:t>
            </a:r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할 수 있습니다.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같은 변수에 덮어쓰면(</a:t>
            </a:r>
            <a:pPr indent="0" marL="0">
              <a:lnSpc>
                <a:spcPts val="24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img = process(img)</a:t>
            </a:r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) 원본이 사라지므로 주의합니다.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0" y="1188720"/>
            <a:ext cx="4114800" cy="2468880"/>
          </a:xfrm>
          <a:prstGeom prst="roundRect">
            <a:avLst>
              <a:gd name="adj" fmla="val 185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09160" y="1298448"/>
            <a:ext cx="384048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img_raw  = imread(path)   # 원본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img_blur = denoise(img_raw)  # 노이즈 제거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img_bin  = threshold(img_blur)  # 이진화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각 단계가 변수에 보존됨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img_raw 로 언제든 원본 비교 가능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0" y="379476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권장: img_raw → img_blur → img_bin 처럼 단계별로 이름을 붙여 보존합니다.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크기와 자료형: shape · dtype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406640" y="47548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W7–W9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shape — 배열의 크기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755648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(행, 열) = (높이, 너비). 컬러는 (행, 열, 3) 으로 채널이 추가됩니다.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3520440" cy="128016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807208"/>
            <a:ext cx="32461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img.shape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(1024, 1024)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color.shape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(1024, 1024, 3)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dtype — 값의 자료형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755648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8bit 은 0~255(uint8), TEM 은 16bit(uint16) 가 흔합니다. 자료형을 알아야 값 범위를 압니다.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2697480"/>
            <a:ext cx="3520440" cy="128016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2807208"/>
            <a:ext cx="32461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img.dtype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dtype('uint8')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img.max()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255  (uint8 의 최대)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인덱싱 · 슬라이싱 = ROI 잘라내기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406640" y="47548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W7–W9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행·열 범위를 지정해 이미지의 일부(관심 영역, ROI)만 잘라냅니다. 형식은 img[행범위, 열범위] 입니다.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solidFill>
            <a:srgbClr val="000000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97280" y="1828800"/>
            <a:ext cx="457200" cy="457200"/>
          </a:xfrm>
          <a:prstGeom prst="rect">
            <a:avLst/>
          </a:prstGeom>
          <a:solidFill>
            <a:srgbClr val="070707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554480" y="1828800"/>
            <a:ext cx="457200" cy="457200"/>
          </a:xfrm>
          <a:prstGeom prst="rect">
            <a:avLst/>
          </a:prstGeom>
          <a:solidFill>
            <a:srgbClr val="0E0E0E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828800"/>
            <a:ext cx="457200" cy="457200"/>
          </a:xfrm>
          <a:prstGeom prst="rect">
            <a:avLst/>
          </a:prstGeom>
          <a:solidFill>
            <a:srgbClr val="151515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116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68880" y="1828800"/>
            <a:ext cx="457200" cy="457200"/>
          </a:xfrm>
          <a:prstGeom prst="rect">
            <a:avLst/>
          </a:prstGeom>
          <a:solidFill>
            <a:srgbClr val="1C1C1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1828800"/>
            <a:ext cx="457200" cy="457200"/>
          </a:xfrm>
          <a:prstGeom prst="rect">
            <a:avLst/>
          </a:prstGeom>
          <a:solidFill>
            <a:srgbClr val="232323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solidFill>
            <a:srgbClr val="2A2A2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solidFill>
            <a:srgbClr val="31313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54480" y="2286000"/>
            <a:ext cx="457200" cy="457200"/>
          </a:xfrm>
          <a:prstGeom prst="rect">
            <a:avLst/>
          </a:prstGeom>
          <a:solidFill>
            <a:srgbClr val="383838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44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011680" y="2286000"/>
            <a:ext cx="457200" cy="457200"/>
          </a:xfrm>
          <a:prstGeom prst="rect">
            <a:avLst/>
          </a:prstGeom>
          <a:solidFill>
            <a:srgbClr val="3F3F3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116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68880" y="2286000"/>
            <a:ext cx="457200" cy="457200"/>
          </a:xfrm>
          <a:prstGeom prst="rect">
            <a:avLst/>
          </a:prstGeom>
          <a:solidFill>
            <a:srgbClr val="464646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688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2286000"/>
            <a:ext cx="457200" cy="457200"/>
          </a:xfrm>
          <a:prstGeom prst="rect">
            <a:avLst/>
          </a:prstGeom>
          <a:solidFill>
            <a:srgbClr val="4D4D4D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260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2743200"/>
            <a:ext cx="457200" cy="457200"/>
          </a:xfrm>
          <a:prstGeom prst="rect">
            <a:avLst/>
          </a:prstGeom>
          <a:solidFill>
            <a:srgbClr val="545454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97280" y="2743200"/>
            <a:ext cx="457200" cy="457200"/>
          </a:xfrm>
          <a:prstGeom prst="rect">
            <a:avLst/>
          </a:prstGeom>
          <a:solidFill>
            <a:srgbClr val="5B5B5B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554480" y="2743200"/>
            <a:ext cx="457200" cy="457200"/>
          </a:xfrm>
          <a:prstGeom prst="rect">
            <a:avLst/>
          </a:prstGeom>
          <a:solidFill>
            <a:srgbClr val="626262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11680" y="2743200"/>
            <a:ext cx="457200" cy="457200"/>
          </a:xfrm>
          <a:prstGeom prst="rect">
            <a:avLst/>
          </a:prstGeom>
          <a:solidFill>
            <a:srgbClr val="69696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116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468880" y="2743200"/>
            <a:ext cx="457200" cy="457200"/>
          </a:xfrm>
          <a:prstGeom prst="rect">
            <a:avLst/>
          </a:prstGeom>
          <a:solidFill>
            <a:srgbClr val="707070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688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926080" y="2743200"/>
            <a:ext cx="457200" cy="457200"/>
          </a:xfrm>
          <a:prstGeom prst="rect">
            <a:avLst/>
          </a:prstGeom>
          <a:solidFill>
            <a:srgbClr val="777777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260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0080" y="3200400"/>
            <a:ext cx="457200" cy="457200"/>
          </a:xfrm>
          <a:prstGeom prst="rect">
            <a:avLst/>
          </a:prstGeom>
          <a:solidFill>
            <a:srgbClr val="7E7E7E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126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97280" y="3200400"/>
            <a:ext cx="457200" cy="457200"/>
          </a:xfrm>
          <a:prstGeom prst="rect">
            <a:avLst/>
          </a:prstGeom>
          <a:solidFill>
            <a:srgbClr val="858585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972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554480" y="3200400"/>
            <a:ext cx="457200" cy="457200"/>
          </a:xfrm>
          <a:prstGeom prst="rect">
            <a:avLst/>
          </a:prstGeom>
          <a:solidFill>
            <a:srgbClr val="8C8C8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5544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011680" y="3200400"/>
            <a:ext cx="457200" cy="457200"/>
          </a:xfrm>
          <a:prstGeom prst="rect">
            <a:avLst/>
          </a:prstGeom>
          <a:solidFill>
            <a:srgbClr val="939393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116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147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68880" y="3200400"/>
            <a:ext cx="457200" cy="457200"/>
          </a:xfrm>
          <a:prstGeom prst="rect">
            <a:avLst/>
          </a:prstGeom>
          <a:solidFill>
            <a:srgbClr val="9A9A9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688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26080" y="3200400"/>
            <a:ext cx="457200" cy="457200"/>
          </a:xfrm>
          <a:prstGeom prst="rect">
            <a:avLst/>
          </a:prstGeom>
          <a:solidFill>
            <a:srgbClr val="A1A1A1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9260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solidFill>
            <a:srgbClr val="A8A8A8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168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1097280" y="3657600"/>
            <a:ext cx="457200" cy="457200"/>
          </a:xfrm>
          <a:prstGeom prst="rect">
            <a:avLst/>
          </a:prstGeom>
          <a:solidFill>
            <a:srgbClr val="AFAFA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972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175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554480" y="3657600"/>
            <a:ext cx="457200" cy="457200"/>
          </a:xfrm>
          <a:prstGeom prst="rect">
            <a:avLst/>
          </a:prstGeom>
          <a:solidFill>
            <a:srgbClr val="B6B6B6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5544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011680" y="3657600"/>
            <a:ext cx="457200" cy="457200"/>
          </a:xfrm>
          <a:prstGeom prst="rect">
            <a:avLst/>
          </a:prstGeom>
          <a:solidFill>
            <a:srgbClr val="BDBDBD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116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468880" y="3657600"/>
            <a:ext cx="457200" cy="457200"/>
          </a:xfrm>
          <a:prstGeom prst="rect">
            <a:avLst/>
          </a:prstGeom>
          <a:solidFill>
            <a:srgbClr val="C4C4C4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4688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926080" y="3657600"/>
            <a:ext cx="457200" cy="457200"/>
          </a:xfrm>
          <a:prstGeom prst="rect">
            <a:avLst/>
          </a:prstGeom>
          <a:solidFill>
            <a:srgbClr val="CBCBCB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solidFill>
            <a:srgbClr val="D2D2D2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solidFill>
            <a:srgbClr val="D9D9D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972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217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554480" y="4114800"/>
            <a:ext cx="457200" cy="457200"/>
          </a:xfrm>
          <a:prstGeom prst="rect">
            <a:avLst/>
          </a:prstGeom>
          <a:solidFill>
            <a:srgbClr val="E0E0E0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5544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224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011680" y="4114800"/>
            <a:ext cx="457200" cy="457200"/>
          </a:xfrm>
          <a:prstGeom prst="rect">
            <a:avLst/>
          </a:prstGeom>
          <a:solidFill>
            <a:srgbClr val="E7E7E7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0116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2468880" y="4114800"/>
            <a:ext cx="457200" cy="457200"/>
          </a:xfrm>
          <a:prstGeom prst="rect">
            <a:avLst/>
          </a:prstGeom>
          <a:solidFill>
            <a:srgbClr val="EEEEEE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4688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238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926080" y="4114800"/>
            <a:ext cx="457200" cy="457200"/>
          </a:xfrm>
          <a:prstGeom prst="rect">
            <a:avLst/>
          </a:prstGeom>
          <a:solidFill>
            <a:srgbClr val="F5F5F5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926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1097280" y="2286000"/>
            <a:ext cx="1371600" cy="1371600"/>
          </a:xfrm>
          <a:prstGeom prst="rect">
            <a:avLst/>
          </a:prstGeom>
          <a:ln w="38100">
            <a:solidFill>
              <a:srgbClr val="0D948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3360" y="1828800"/>
            <a:ext cx="4663440" cy="2468880"/>
          </a:xfrm>
          <a:prstGeom prst="roundRect">
            <a:avLst>
              <a:gd name="adj" fmla="val 2963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4251960" y="2011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ROI 추출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4251960" y="2423160"/>
            <a:ext cx="4206240" cy="1737360"/>
          </a:xfrm>
          <a:prstGeom prst="roundRect">
            <a:avLst>
              <a:gd name="adj" fmla="val 263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2532888"/>
            <a:ext cx="393192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행 1~3, 열 1~3 영역만 선택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 = img[1:4, 1:4]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roi.shape      # (3, 3)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img[1:4, 1:4] = 0   # 그 영역을 0으로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불리언 마스킹: 조건으로 픽셀 고르기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406640" y="47548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W7–W9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"밝기 &gt; 150" 같은 조건을 배열에 적용하면 각 픽셀이 True/False 인 마스크가 만들어집니다. 이것이 segmentation 의 기초입니다.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4572000" cy="2286000"/>
          </a:xfrm>
          <a:prstGeom prst="roundRect">
            <a:avLst>
              <a:gd name="adj" fmla="val 2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29968"/>
            <a:ext cx="429768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 = img &gt; 150     # True/False 배열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img[mask] = 255      # 조건 픽셀만 흰색으로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img[mask].mean()     # 조건 픽셀의 평균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np.count_nonzero(mask)  # 조건 픽셀 개수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0" y="192024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532120" y="2103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계측에서의 쓰임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32120" y="2514600"/>
            <a:ext cx="29260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4E4A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특정 밝기의 layer 만 골라내기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4E4A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결함 영역만 분리하기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4E4A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면적 = 마스크의 픽셀 개수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집계 연산과 axis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406640" y="47548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W7–W9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배열 전체 또는 행·열 방향으로 평균·합·최대 등을 한 번에 계산합니다. 방향은 axis 로 지정합니다.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572000" cy="2377440"/>
          </a:xfrm>
          <a:prstGeom prst="roundRect">
            <a:avLst>
              <a:gd name="adj" fmla="val 192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92808"/>
            <a:ext cx="4297680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img.mean()        # 전체 평균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img.std()         # 전체 표준편차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img.max(), img.min()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img.mean(axis=0)  # 열 방향(세로) 평균</a:t>
            </a:r>
            <a:endParaRPr lang="en-US" sz="125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img.mean(axis=1)  # 행 방향(가로) 평균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0" y="1783080"/>
            <a:ext cx="3383280" cy="2377440"/>
          </a:xfrm>
          <a:prstGeom prst="roundRect">
            <a:avLst>
              <a:gd name="adj" fmla="val 3077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532120" y="1965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B61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axis 직관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532120" y="237744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4E4A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axis=0 : 행을 따라 아래로 → 열별 결과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4E4A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axis=1 : 열을 따라 옆으로 → 행별 결과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4E4A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생략 시 : 전체 하나의 값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실습 안내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배열로 이미지 다뤄보기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예제 이미지를 만들어 shape · dtype 확인하기</a:t>
            </a:r>
            <a:endParaRPr lang="en-US" sz="1600" dirty="0"/>
          </a:p>
          <a:p>
            <a:pPr marL="342900" indent="-3429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슬라이싱으로 ROI 잘라내고 값 바꿔보기</a:t>
            </a:r>
            <a:endParaRPr lang="en-US" sz="1600" dirty="0"/>
          </a:p>
          <a:p>
            <a:pPr marL="342900" indent="-342900">
              <a:lnSpc>
                <a:spcPts val="28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2E8F0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조건 마스크로 특정 밝기 픽셀만 세기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94A3B8"/>
                </a:solidFill>
                <a:latin typeface="나눔고딕" pitchFamily="34" charset="0"/>
                <a:ea typeface="나눔고딕" pitchFamily="34" charset="-122"/>
                <a:cs typeface="나눔고딕" pitchFamily="34" charset="-120"/>
              </a:rPr>
              <a:t>실습: 03_numpy_image.ipynb · 03_practice.ipynb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Phase 3 · NumPy, 배열로서의 이미지</dc:title>
  <dc:subject>PptxGenJS Presentation</dc:subject>
  <dc:creator>교육팀</dc:creator>
  <cp:lastModifiedBy>교육팀</cp:lastModifiedBy>
  <cp:revision>1</cp:revision>
  <dcterms:created xsi:type="dcterms:W3CDTF">2026-06-29T02:43:32Z</dcterms:created>
  <dcterms:modified xsi:type="dcterms:W3CDTF">2026-06-29T02:43:32Z</dcterms:modified>
</cp:coreProperties>
</file>
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2A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23444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5EEAD4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PHASE 3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640080" y="1645920"/>
            <a:ext cx="78638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NumPy</a:t>
            </a:r>
            <a:endParaRPr lang="en-US" sz="40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배열로서의 이미지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320040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이미지를 숫자 배열로 다루는 토대 잡기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40080" y="4160520"/>
            <a:ext cx="146304" cy="146304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404164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W7–W9  ·  파이썬 이미지 처리 계측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다루는 내용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406640" y="475488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W7–W9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이미지를 "숫자 배열"로 바라보는 관점을 익힙니다. 이후 모든 이미지 처리·계측이 이 위에서 이뤄집니다.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26060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2011680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1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115568" y="198424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변수에 이미지 담기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40080" y="2395728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img1 에 배열 저장·단계별 보존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46120" y="1828800"/>
            <a:ext cx="26060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429000" y="2011680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2" name="Text 10"/>
          <p:cNvSpPr/>
          <p:nvPr/>
        </p:nvSpPr>
        <p:spPr>
          <a:xfrm>
            <a:off x="3429000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2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904488" y="198424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ndarray 기본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3429000" y="2395728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shape · dtype 로 크기·자료형 파악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035040" y="1828800"/>
            <a:ext cx="26060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217920" y="2011680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7" name="Text 15"/>
          <p:cNvSpPr/>
          <p:nvPr/>
        </p:nvSpPr>
        <p:spPr>
          <a:xfrm>
            <a:off x="6217920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3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693408" y="198424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인덱싱 · 슬라이싱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6217920" y="2395728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ROI(관심 영역) 잘라내기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57200" y="3063240"/>
            <a:ext cx="26060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40080" y="3246120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3246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4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1115568" y="321868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불리언 마스킹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640080" y="3630168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조건을 만족하는 픽셀만 선택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246120" y="3063240"/>
            <a:ext cx="26060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429000" y="3246120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7" name="Text 25"/>
          <p:cNvSpPr/>
          <p:nvPr/>
        </p:nvSpPr>
        <p:spPr>
          <a:xfrm>
            <a:off x="3429000" y="3246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5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3904488" y="321868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집계 연산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3429000" y="3630168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평균·표준편차·개수 세기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035040" y="3063240"/>
            <a:ext cx="26060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217920" y="3246120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32" name="Text 30"/>
          <p:cNvSpPr/>
          <p:nvPr/>
        </p:nvSpPr>
        <p:spPr>
          <a:xfrm>
            <a:off x="6217920" y="3246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6</a:t>
            </a:r>
            <a:endParaRPr lang="en-US" sz="1700" dirty="0"/>
          </a:p>
        </p:txBody>
      </p:sp>
      <p:sp>
        <p:nvSpPr>
          <p:cNvPr id="33" name="Text 31"/>
          <p:cNvSpPr/>
          <p:nvPr/>
        </p:nvSpPr>
        <p:spPr>
          <a:xfrm>
            <a:off x="6693408" y="321868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axis 개념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6217920" y="3630168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행·열 방향 구분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이미지는 곧 숫자 배열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406640" y="475488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W7–W9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흑백 이미지의 각 픽셀은 밝기값(0=검정 ~ 255=흰색) 하나입니다. 이미지는 이 값들이 행·열로 배열된 2D 격자입니다.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822960" y="2011680"/>
            <a:ext cx="777240" cy="777240"/>
          </a:xfrm>
          <a:prstGeom prst="rect">
            <a:avLst/>
          </a:prstGeom>
          <a:solidFill>
            <a:srgbClr val="000000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0116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600200" y="2011680"/>
            <a:ext cx="777240" cy="777240"/>
          </a:xfrm>
          <a:prstGeom prst="rect">
            <a:avLst/>
          </a:prstGeom>
          <a:solidFill>
            <a:srgbClr val="1E1E1E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00200" y="20116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377440" y="2011680"/>
            <a:ext cx="777240" cy="777240"/>
          </a:xfrm>
          <a:prstGeom prst="rect">
            <a:avLst/>
          </a:prstGeom>
          <a:solidFill>
            <a:srgbClr val="3C3C3C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377440" y="20116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60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822960" y="2788920"/>
            <a:ext cx="777240" cy="777240"/>
          </a:xfrm>
          <a:prstGeom prst="rect">
            <a:avLst/>
          </a:prstGeom>
          <a:solidFill>
            <a:srgbClr val="5A5A5A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27889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90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600200" y="2788920"/>
            <a:ext cx="777240" cy="777240"/>
          </a:xfrm>
          <a:prstGeom prst="rect">
            <a:avLst/>
          </a:prstGeom>
          <a:solidFill>
            <a:srgbClr val="969696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00200" y="27889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150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377440" y="2788920"/>
            <a:ext cx="777240" cy="777240"/>
          </a:xfrm>
          <a:prstGeom prst="rect">
            <a:avLst/>
          </a:prstGeom>
          <a:solidFill>
            <a:srgbClr val="C8C8C8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377440" y="27889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200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822960" y="3566160"/>
            <a:ext cx="777240" cy="777240"/>
          </a:xfrm>
          <a:prstGeom prst="rect">
            <a:avLst/>
          </a:prstGeom>
          <a:solidFill>
            <a:srgbClr val="DCDCDC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35661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220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1600200" y="3566160"/>
            <a:ext cx="777240" cy="777240"/>
          </a:xfrm>
          <a:prstGeom prst="rect">
            <a:avLst/>
          </a:prstGeom>
          <a:solidFill>
            <a:srgbClr val="F0F0F0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600200" y="35661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240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377440" y="3566160"/>
            <a:ext cx="77724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377440" y="35661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255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566160" y="2788920"/>
            <a:ext cx="640080" cy="0"/>
          </a:xfrm>
          <a:prstGeom prst="line">
            <a:avLst/>
          </a:prstGeom>
          <a:noFill/>
          <a:ln w="31750">
            <a:solidFill>
              <a:srgbClr val="0D9488"/>
            </a:solidFill>
            <a:prstDash val="solid"/>
            <a:tailEnd type="triangle"/>
          </a:ln>
        </p:spPr>
      </p:sp>
      <p:sp>
        <p:nvSpPr>
          <p:cNvPr id="24" name="Text 22"/>
          <p:cNvSpPr/>
          <p:nvPr/>
        </p:nvSpPr>
        <p:spPr>
          <a:xfrm>
            <a:off x="3429000" y="242316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같은 데이터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434840" y="1828800"/>
            <a:ext cx="4251960" cy="2377440"/>
          </a:xfrm>
          <a:prstGeom prst="roundRect">
            <a:avLst>
              <a:gd name="adj" fmla="val 3077"/>
            </a:avLst>
          </a:prstGeom>
          <a:solidFill>
            <a:srgbClr val="F0FDF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663440" y="201168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6B61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NumPy 배열(ndarray)로 표현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4663440" y="2423160"/>
            <a:ext cx="3840480" cy="1600200"/>
          </a:xfrm>
          <a:prstGeom prst="roundRect">
            <a:avLst>
              <a:gd name="adj" fmla="val 2857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00600" y="2532888"/>
            <a:ext cx="3566160" cy="1380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img = np.array([</a:t>
            </a:r>
            <a:endParaRPr lang="en-US" sz="125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[  0,  30,  60],</a:t>
            </a:r>
            <a:endParaRPr lang="en-US" sz="125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[ 90, 150, 200],</a:t>
            </a:r>
            <a:endParaRPr lang="en-US" sz="125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[220, 240, 255]])</a:t>
            </a:r>
            <a:endParaRPr lang="en-US" sz="125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img.shape    # (3, 3)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변수에 이미지 담기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406640" y="475488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W7–W9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393192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450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가공 단계마다 변수를 나눠 담으면 </a:t>
            </a:r>
            <a:pPr indent="0" marL="0">
              <a:lnSpc>
                <a:spcPts val="2400"/>
              </a:lnSpc>
              <a:buNone/>
            </a:pPr>
            <a:r>
              <a:rPr lang="en-US" sz="1450" b="1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중간 결과를 언제든 다시 보고 비교</a:t>
            </a:r>
            <a:pPr indent="0" marL="0">
              <a:lnSpc>
                <a:spcPts val="2400"/>
              </a:lnSpc>
              <a:buNone/>
            </a:pPr>
            <a:r>
              <a:rPr lang="en-US" sz="1450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할 수 있습니다.</a:t>
            </a:r>
            <a:endParaRPr lang="en-US" sz="1450" dirty="0"/>
          </a:p>
          <a:p>
            <a:pPr indent="0" marL="0">
              <a:lnSpc>
                <a:spcPts val="2400"/>
              </a:lnSpc>
              <a:buNone/>
            </a:pPr>
            <a:endParaRPr lang="en-US" sz="145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450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같은 변수에 덮어쓰면(</a:t>
            </a:r>
            <a:pPr indent="0" marL="0">
              <a:lnSpc>
                <a:spcPts val="2400"/>
              </a:lnSpc>
              <a:buNone/>
            </a:pPr>
            <a:r>
              <a:rPr lang="en-US" sz="1450" b="1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img = process(img)</a:t>
            </a:r>
            <a:pPr indent="0" marL="0">
              <a:lnSpc>
                <a:spcPts val="2400"/>
              </a:lnSpc>
              <a:buNone/>
            </a:pPr>
            <a:r>
              <a:rPr lang="en-US" sz="1450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) 원본이 사라지므로 주의합니다.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4572000" y="1188720"/>
            <a:ext cx="4114800" cy="2468880"/>
          </a:xfrm>
          <a:prstGeom prst="roundRect">
            <a:avLst>
              <a:gd name="adj" fmla="val 1852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09160" y="1298448"/>
            <a:ext cx="3840480" cy="2249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img_raw  = imread(path)   # 원본</a:t>
            </a:r>
            <a:endParaRPr lang="en-US" sz="125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img_blur = denoise(img_raw)  # 노이즈 제거</a:t>
            </a:r>
            <a:endParaRPr lang="en-US" sz="125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img_bin  = threshold(img_blur)  # 이진화</a:t>
            </a:r>
            <a:endParaRPr lang="en-US" sz="1250" dirty="0"/>
          </a:p>
          <a:p>
            <a:pPr algn="l" indent="0" marL="0">
              <a:lnSpc>
                <a:spcPts val="1800"/>
              </a:lnSpc>
              <a:buNone/>
            </a:pPr>
            <a:endParaRPr lang="en-US" sz="125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각 단계가 변수에 보존됨</a:t>
            </a:r>
            <a:endParaRPr lang="en-US" sz="125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img_raw 로 언제든 원본 비교 가능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572000" y="3794760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i="1" dirty="0">
                <a:solidFill>
                  <a:srgbClr val="64748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권장: img_raw → img_blur → img_bin 처럼 단계별로 이름을 붙여 보존합니다.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크기와 자료형: shape · dtype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406640" y="475488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W7–W9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023360" cy="301752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3716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6B61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shape — 배열의 크기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31520" y="1755648"/>
            <a:ext cx="35204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(행, 열) = (높이, 너비). 컬러는 (행, 열, 3) 으로 채널이 추가됩니다.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31520" y="2697480"/>
            <a:ext cx="3520440" cy="1280160"/>
          </a:xfrm>
          <a:prstGeom prst="roundRect">
            <a:avLst>
              <a:gd name="adj" fmla="val 3571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2807208"/>
            <a:ext cx="324612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img.shape</a:t>
            </a:r>
            <a:endParaRPr lang="en-US" sz="125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(1024, 1024)</a:t>
            </a:r>
            <a:endParaRPr lang="en-US" sz="125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color.shape</a:t>
            </a:r>
            <a:endParaRPr lang="en-US" sz="125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(1024, 1024, 3)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663440" y="1188720"/>
            <a:ext cx="4023360" cy="301752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937760" y="13716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6B61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dtype — 값의 자료형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937760" y="1755648"/>
            <a:ext cx="35204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8bit 은 0~255(uint8), TEM 은 16bit(uint16) 가 흔합니다. 자료형을 알아야 값 범위를 압니다.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937760" y="2697480"/>
            <a:ext cx="3520440" cy="1280160"/>
          </a:xfrm>
          <a:prstGeom prst="roundRect">
            <a:avLst>
              <a:gd name="adj" fmla="val 3571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74920" y="2807208"/>
            <a:ext cx="324612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img.dtype</a:t>
            </a:r>
            <a:endParaRPr lang="en-US" sz="125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dtype('uint8')</a:t>
            </a:r>
            <a:endParaRPr lang="en-US" sz="125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img.max()</a:t>
            </a:r>
            <a:endParaRPr lang="en-US" sz="125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255  (uint8 의 최대)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인덱싱 · 슬라이싱 = ROI 잘라내기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406640" y="475488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W7–W9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행·열 범위를 지정해 이미지의 일부(관심 영역, ROI)만 잘라냅니다. 형식은 img[행범위, 열범위] 입니다.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457200" cy="457200"/>
          </a:xfrm>
          <a:prstGeom prst="rect">
            <a:avLst/>
          </a:prstGeom>
          <a:solidFill>
            <a:srgbClr val="000000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097280" y="1828800"/>
            <a:ext cx="457200" cy="457200"/>
          </a:xfrm>
          <a:prstGeom prst="rect">
            <a:avLst/>
          </a:prstGeom>
          <a:solidFill>
            <a:srgbClr val="070707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554480" y="1828800"/>
            <a:ext cx="457200" cy="457200"/>
          </a:xfrm>
          <a:prstGeom prst="rect">
            <a:avLst/>
          </a:prstGeom>
          <a:solidFill>
            <a:srgbClr val="0E0E0E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55448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011680" y="1828800"/>
            <a:ext cx="457200" cy="457200"/>
          </a:xfrm>
          <a:prstGeom prst="rect">
            <a:avLst/>
          </a:prstGeom>
          <a:solidFill>
            <a:srgbClr val="151515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01168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468880" y="1828800"/>
            <a:ext cx="457200" cy="457200"/>
          </a:xfrm>
          <a:prstGeom prst="rect">
            <a:avLst/>
          </a:prstGeom>
          <a:solidFill>
            <a:srgbClr val="1C1C1C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46888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28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926080" y="1828800"/>
            <a:ext cx="457200" cy="457200"/>
          </a:xfrm>
          <a:prstGeom prst="rect">
            <a:avLst/>
          </a:prstGeom>
          <a:solidFill>
            <a:srgbClr val="232323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92608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35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40080" y="2286000"/>
            <a:ext cx="457200" cy="457200"/>
          </a:xfrm>
          <a:prstGeom prst="rect">
            <a:avLst/>
          </a:prstGeom>
          <a:solidFill>
            <a:srgbClr val="2A2A2A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2286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42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1097280" y="2286000"/>
            <a:ext cx="457200" cy="457200"/>
          </a:xfrm>
          <a:prstGeom prst="rect">
            <a:avLst/>
          </a:prstGeom>
          <a:solidFill>
            <a:srgbClr val="313131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97280" y="2286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49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554480" y="2286000"/>
            <a:ext cx="457200" cy="457200"/>
          </a:xfrm>
          <a:prstGeom prst="rect">
            <a:avLst/>
          </a:prstGeom>
          <a:solidFill>
            <a:srgbClr val="383838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54480" y="2286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56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011680" y="2286000"/>
            <a:ext cx="457200" cy="457200"/>
          </a:xfrm>
          <a:prstGeom prst="rect">
            <a:avLst/>
          </a:prstGeom>
          <a:solidFill>
            <a:srgbClr val="3F3F3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011680" y="2286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63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468880" y="2286000"/>
            <a:ext cx="457200" cy="457200"/>
          </a:xfrm>
          <a:prstGeom prst="rect">
            <a:avLst/>
          </a:prstGeom>
          <a:solidFill>
            <a:srgbClr val="464646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468880" y="2286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70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926080" y="2286000"/>
            <a:ext cx="457200" cy="457200"/>
          </a:xfrm>
          <a:prstGeom prst="rect">
            <a:avLst/>
          </a:prstGeom>
          <a:solidFill>
            <a:srgbClr val="4D4D4D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926080" y="2286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77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40080" y="2743200"/>
            <a:ext cx="457200" cy="457200"/>
          </a:xfrm>
          <a:prstGeom prst="rect">
            <a:avLst/>
          </a:prstGeom>
          <a:solidFill>
            <a:srgbClr val="545454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" y="2743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84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1097280" y="2743200"/>
            <a:ext cx="457200" cy="457200"/>
          </a:xfrm>
          <a:prstGeom prst="rect">
            <a:avLst/>
          </a:prstGeom>
          <a:solidFill>
            <a:srgbClr val="5B5B5B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97280" y="2743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91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1554480" y="2743200"/>
            <a:ext cx="457200" cy="457200"/>
          </a:xfrm>
          <a:prstGeom prst="rect">
            <a:avLst/>
          </a:prstGeom>
          <a:solidFill>
            <a:srgbClr val="626262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554480" y="2743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98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2011680" y="2743200"/>
            <a:ext cx="457200" cy="457200"/>
          </a:xfrm>
          <a:prstGeom prst="rect">
            <a:avLst/>
          </a:prstGeom>
          <a:solidFill>
            <a:srgbClr val="696969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011680" y="2743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105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2468880" y="2743200"/>
            <a:ext cx="457200" cy="457200"/>
          </a:xfrm>
          <a:prstGeom prst="rect">
            <a:avLst/>
          </a:prstGeom>
          <a:solidFill>
            <a:srgbClr val="707070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468880" y="2743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112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2926080" y="2743200"/>
            <a:ext cx="457200" cy="457200"/>
          </a:xfrm>
          <a:prstGeom prst="rect">
            <a:avLst/>
          </a:prstGeom>
          <a:solidFill>
            <a:srgbClr val="777777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926080" y="2743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119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40080" y="3200400"/>
            <a:ext cx="457200" cy="457200"/>
          </a:xfrm>
          <a:prstGeom prst="rect">
            <a:avLst/>
          </a:prstGeom>
          <a:solidFill>
            <a:srgbClr val="7E7E7E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40080" y="3200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126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1097280" y="3200400"/>
            <a:ext cx="457200" cy="457200"/>
          </a:xfrm>
          <a:prstGeom prst="rect">
            <a:avLst/>
          </a:prstGeom>
          <a:solidFill>
            <a:srgbClr val="858585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097280" y="3200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133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1554480" y="3200400"/>
            <a:ext cx="457200" cy="457200"/>
          </a:xfrm>
          <a:prstGeom prst="rect">
            <a:avLst/>
          </a:prstGeom>
          <a:solidFill>
            <a:srgbClr val="8C8C8C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554480" y="3200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140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2011680" y="3200400"/>
            <a:ext cx="457200" cy="457200"/>
          </a:xfrm>
          <a:prstGeom prst="rect">
            <a:avLst/>
          </a:prstGeom>
          <a:solidFill>
            <a:srgbClr val="939393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011680" y="3200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147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2468880" y="3200400"/>
            <a:ext cx="457200" cy="457200"/>
          </a:xfrm>
          <a:prstGeom prst="rect">
            <a:avLst/>
          </a:prstGeom>
          <a:solidFill>
            <a:srgbClr val="9A9A9A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468880" y="3200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154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2926080" y="3200400"/>
            <a:ext cx="457200" cy="457200"/>
          </a:xfrm>
          <a:prstGeom prst="rect">
            <a:avLst/>
          </a:prstGeom>
          <a:solidFill>
            <a:srgbClr val="A1A1A1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926080" y="3200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161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640080" y="3657600"/>
            <a:ext cx="457200" cy="457200"/>
          </a:xfrm>
          <a:prstGeom prst="rect">
            <a:avLst/>
          </a:prstGeom>
          <a:solidFill>
            <a:srgbClr val="A8A8A8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40080" y="3657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168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1097280" y="3657600"/>
            <a:ext cx="457200" cy="457200"/>
          </a:xfrm>
          <a:prstGeom prst="rect">
            <a:avLst/>
          </a:prstGeom>
          <a:solidFill>
            <a:srgbClr val="AFAFA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1097280" y="3657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175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1554480" y="3657600"/>
            <a:ext cx="457200" cy="457200"/>
          </a:xfrm>
          <a:prstGeom prst="rect">
            <a:avLst/>
          </a:prstGeom>
          <a:solidFill>
            <a:srgbClr val="B6B6B6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1554480" y="3657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182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2011680" y="3657600"/>
            <a:ext cx="457200" cy="457200"/>
          </a:xfrm>
          <a:prstGeom prst="rect">
            <a:avLst/>
          </a:prstGeom>
          <a:solidFill>
            <a:srgbClr val="BDBDBD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2011680" y="3657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189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2468880" y="3657600"/>
            <a:ext cx="457200" cy="457200"/>
          </a:xfrm>
          <a:prstGeom prst="rect">
            <a:avLst/>
          </a:prstGeom>
          <a:solidFill>
            <a:srgbClr val="C4C4C4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2468880" y="3657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196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2926080" y="3657600"/>
            <a:ext cx="457200" cy="457200"/>
          </a:xfrm>
          <a:prstGeom prst="rect">
            <a:avLst/>
          </a:prstGeom>
          <a:solidFill>
            <a:srgbClr val="CBCBCB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2926080" y="3657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203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640080" y="4114800"/>
            <a:ext cx="457200" cy="457200"/>
          </a:xfrm>
          <a:prstGeom prst="rect">
            <a:avLst/>
          </a:prstGeom>
          <a:solidFill>
            <a:srgbClr val="D2D2D2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640080" y="4114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210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1097280" y="4114800"/>
            <a:ext cx="457200" cy="457200"/>
          </a:xfrm>
          <a:prstGeom prst="rect">
            <a:avLst/>
          </a:prstGeom>
          <a:solidFill>
            <a:srgbClr val="D9D9D9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1097280" y="4114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217</a:t>
            </a:r>
            <a:endParaRPr lang="en-US" sz="1000" dirty="0"/>
          </a:p>
        </p:txBody>
      </p:sp>
      <p:sp>
        <p:nvSpPr>
          <p:cNvPr id="69" name="Shape 67"/>
          <p:cNvSpPr/>
          <p:nvPr/>
        </p:nvSpPr>
        <p:spPr>
          <a:xfrm>
            <a:off x="1554480" y="4114800"/>
            <a:ext cx="457200" cy="457200"/>
          </a:xfrm>
          <a:prstGeom prst="rect">
            <a:avLst/>
          </a:prstGeom>
          <a:solidFill>
            <a:srgbClr val="E0E0E0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1554480" y="4114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224</a:t>
            </a:r>
            <a:endParaRPr lang="en-US" sz="1000" dirty="0"/>
          </a:p>
        </p:txBody>
      </p:sp>
      <p:sp>
        <p:nvSpPr>
          <p:cNvPr id="71" name="Shape 69"/>
          <p:cNvSpPr/>
          <p:nvPr/>
        </p:nvSpPr>
        <p:spPr>
          <a:xfrm>
            <a:off x="2011680" y="4114800"/>
            <a:ext cx="457200" cy="457200"/>
          </a:xfrm>
          <a:prstGeom prst="rect">
            <a:avLst/>
          </a:prstGeom>
          <a:solidFill>
            <a:srgbClr val="E7E7E7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2011680" y="4114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231</a:t>
            </a:r>
            <a:endParaRPr lang="en-US" sz="1000" dirty="0"/>
          </a:p>
        </p:txBody>
      </p:sp>
      <p:sp>
        <p:nvSpPr>
          <p:cNvPr id="73" name="Shape 71"/>
          <p:cNvSpPr/>
          <p:nvPr/>
        </p:nvSpPr>
        <p:spPr>
          <a:xfrm>
            <a:off x="2468880" y="4114800"/>
            <a:ext cx="457200" cy="457200"/>
          </a:xfrm>
          <a:prstGeom prst="rect">
            <a:avLst/>
          </a:prstGeom>
          <a:solidFill>
            <a:srgbClr val="EEEEEE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2468880" y="4114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238</a:t>
            </a:r>
            <a:endParaRPr lang="en-US" sz="1000" dirty="0"/>
          </a:p>
        </p:txBody>
      </p:sp>
      <p:sp>
        <p:nvSpPr>
          <p:cNvPr id="75" name="Shape 73"/>
          <p:cNvSpPr/>
          <p:nvPr/>
        </p:nvSpPr>
        <p:spPr>
          <a:xfrm>
            <a:off x="2926080" y="4114800"/>
            <a:ext cx="457200" cy="457200"/>
          </a:xfrm>
          <a:prstGeom prst="rect">
            <a:avLst/>
          </a:prstGeom>
          <a:solidFill>
            <a:srgbClr val="F5F5F5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2926080" y="4114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245</a:t>
            </a:r>
            <a:endParaRPr lang="en-US" sz="1000" dirty="0"/>
          </a:p>
        </p:txBody>
      </p:sp>
      <p:sp>
        <p:nvSpPr>
          <p:cNvPr id="77" name="Shape 75"/>
          <p:cNvSpPr/>
          <p:nvPr/>
        </p:nvSpPr>
        <p:spPr>
          <a:xfrm>
            <a:off x="1097280" y="2286000"/>
            <a:ext cx="1371600" cy="1371600"/>
          </a:xfrm>
          <a:prstGeom prst="rect">
            <a:avLst/>
          </a:prstGeom>
          <a:ln w="38100">
            <a:solidFill>
              <a:srgbClr val="0D9488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4023360" y="1828800"/>
            <a:ext cx="4663440" cy="2468880"/>
          </a:xfrm>
          <a:prstGeom prst="roundRect">
            <a:avLst>
              <a:gd name="adj" fmla="val 2963"/>
            </a:avLst>
          </a:prstGeom>
          <a:solidFill>
            <a:srgbClr val="F0FDF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79" name="Text 77"/>
          <p:cNvSpPr/>
          <p:nvPr/>
        </p:nvSpPr>
        <p:spPr>
          <a:xfrm>
            <a:off x="4251960" y="201168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6B61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ROI 추출</a:t>
            </a:r>
            <a:endParaRPr lang="en-US" sz="1400" dirty="0"/>
          </a:p>
        </p:txBody>
      </p:sp>
      <p:sp>
        <p:nvSpPr>
          <p:cNvPr id="80" name="Shape 78"/>
          <p:cNvSpPr/>
          <p:nvPr/>
        </p:nvSpPr>
        <p:spPr>
          <a:xfrm>
            <a:off x="4251960" y="2423160"/>
            <a:ext cx="4206240" cy="1737360"/>
          </a:xfrm>
          <a:prstGeom prst="roundRect">
            <a:avLst>
              <a:gd name="adj" fmla="val 2632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4389120" y="2532888"/>
            <a:ext cx="3931920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행 1~3, 열 1~3 영역만 선택</a:t>
            </a:r>
            <a:endParaRPr lang="en-US" sz="125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roi = img[1:4, 1:4]</a:t>
            </a:r>
            <a:endParaRPr lang="en-US" sz="1250" dirty="0"/>
          </a:p>
          <a:p>
            <a:pPr algn="l" indent="0" marL="0">
              <a:lnSpc>
                <a:spcPts val="1800"/>
              </a:lnSpc>
              <a:buNone/>
            </a:pPr>
            <a:endParaRPr lang="en-US" sz="125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roi.shape      # (3, 3)</a:t>
            </a:r>
            <a:endParaRPr lang="en-US" sz="125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img[1:4, 1:4] = 0   # 그 영역을 0으로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불리언 마스킹: 조건으로 픽셀 고르기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406640" y="475488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W7–W9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"밝기 &gt; 150" 같은 조건을 배열에 적용하면 각 픽셀이 True/False 인 마스크가 만들어집니다. 이것이 segmentation 의 기초입니다.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457200" y="1920240"/>
            <a:ext cx="4572000" cy="2286000"/>
          </a:xfrm>
          <a:prstGeom prst="roundRect">
            <a:avLst>
              <a:gd name="adj" fmla="val 20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2029968"/>
            <a:ext cx="4297680" cy="2066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mask = img &gt; 150     # True/False 배열</a:t>
            </a:r>
            <a:endParaRPr lang="en-US" sz="1250" dirty="0"/>
          </a:p>
          <a:p>
            <a:pPr algn="l" indent="0" marL="0">
              <a:lnSpc>
                <a:spcPts val="1800"/>
              </a:lnSpc>
              <a:buNone/>
            </a:pPr>
            <a:endParaRPr lang="en-US" sz="125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img[mask] = 255      # 조건 픽셀만 흰색으로</a:t>
            </a:r>
            <a:endParaRPr lang="en-US" sz="125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img[mask].mean()     # 조건 픽셀의 평균</a:t>
            </a:r>
            <a:endParaRPr lang="en-US" sz="125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np.count_nonzero(mask)  # 조건 픽셀 개수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303520" y="1920240"/>
            <a:ext cx="3383280" cy="2286000"/>
          </a:xfrm>
          <a:prstGeom prst="roundRect">
            <a:avLst>
              <a:gd name="adj" fmla="val 3200"/>
            </a:avLst>
          </a:prstGeom>
          <a:solidFill>
            <a:srgbClr val="F0FDF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532120" y="210312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6B61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계측에서의 쓰임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532120" y="2514600"/>
            <a:ext cx="292608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34E4A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특정 밝기의 layer 만 골라내기</a:t>
            </a:r>
            <a:endParaRPr lang="en-US" sz="1250" dirty="0"/>
          </a:p>
          <a:p>
            <a:pPr marL="342900" indent="-342900">
              <a:lnSpc>
                <a:spcPts val="2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34E4A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결함 영역만 분리하기</a:t>
            </a:r>
            <a:endParaRPr lang="en-US" sz="1250" dirty="0"/>
          </a:p>
          <a:p>
            <a:pPr marL="342900" indent="-342900">
              <a:lnSpc>
                <a:spcPts val="2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34E4A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면적 = 마스크의 픽셀 개수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집계 연산과 axis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406640" y="475488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W7–W9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배열 전체 또는 행·열 방향으로 평균·합·최대 등을 한 번에 계산합니다. 방향은 axis 로 지정합니다.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457200" y="1783080"/>
            <a:ext cx="4572000" cy="2377440"/>
          </a:xfrm>
          <a:prstGeom prst="roundRect">
            <a:avLst>
              <a:gd name="adj" fmla="val 1923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892808"/>
            <a:ext cx="4297680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img.mean()        # 전체 평균</a:t>
            </a:r>
            <a:endParaRPr lang="en-US" sz="125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img.std()         # 전체 표준편차</a:t>
            </a:r>
            <a:endParaRPr lang="en-US" sz="125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img.max(), img.min()</a:t>
            </a:r>
            <a:endParaRPr lang="en-US" sz="1250" dirty="0"/>
          </a:p>
          <a:p>
            <a:pPr algn="l" indent="0" marL="0">
              <a:lnSpc>
                <a:spcPts val="1800"/>
              </a:lnSpc>
              <a:buNone/>
            </a:pPr>
            <a:endParaRPr lang="en-US" sz="125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img.mean(axis=0)  # 열 방향(세로) 평균</a:t>
            </a:r>
            <a:endParaRPr lang="en-US" sz="125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img.mean(axis=1)  # 행 방향(가로) 평균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303520" y="1783080"/>
            <a:ext cx="3383280" cy="2377440"/>
          </a:xfrm>
          <a:prstGeom prst="roundRect">
            <a:avLst>
              <a:gd name="adj" fmla="val 3077"/>
            </a:avLst>
          </a:prstGeom>
          <a:solidFill>
            <a:srgbClr val="F0FDF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532120" y="196596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6B61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axis 직관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532120" y="2377440"/>
            <a:ext cx="292608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34E4A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axis=0 : 행을 따라 아래로 → 열별 결과</a:t>
            </a:r>
            <a:endParaRPr lang="en-US" sz="1250" dirty="0"/>
          </a:p>
          <a:p>
            <a:pPr marL="342900" indent="-342900">
              <a:lnSpc>
                <a:spcPts val="2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34E4A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axis=1 : 열을 따라 옆으로 → 행별 결과</a:t>
            </a:r>
            <a:endParaRPr lang="en-US" sz="1250" dirty="0"/>
          </a:p>
          <a:p>
            <a:pPr marL="342900" indent="-342900">
              <a:lnSpc>
                <a:spcPts val="2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34E4A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생략 시 : 전체 하나의 값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값과 위치: max vs argmax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406640" y="475488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W7–W9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max·min 은 </a:t>
            </a:r>
            <a:pPr indent="0" marL="0">
              <a:lnSpc>
                <a:spcPts val="2300"/>
              </a:lnSpc>
              <a:buNone/>
            </a:pPr>
            <a:r>
              <a:rPr lang="en-US" sz="1450" b="1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값</a:t>
            </a:r>
            <a:pPr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을 주고, </a:t>
            </a:r>
            <a:pPr indent="0" marL="0">
              <a:lnSpc>
                <a:spcPts val="2300"/>
              </a:lnSpc>
              <a:buNone/>
            </a:pPr>
            <a:r>
              <a:rPr lang="en-US" sz="1450" b="1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argmax·argmin 은 그 값이 있는 위치(인덱스)</a:t>
            </a:r>
            <a:pPr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를 줍니다. 계측에서는 "가장 밝은/변화가 큰 곳이 어디인가"처럼 위치가 필요할 때가 많습니다.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457200" y="1965960"/>
            <a:ext cx="4572000" cy="2286000"/>
          </a:xfrm>
          <a:prstGeom prst="roundRect">
            <a:avLst>
              <a:gd name="adj" fmla="val 20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2075688"/>
            <a:ext cx="4297680" cy="2066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= np.array([12, 45, 7, 45])</a:t>
            </a:r>
            <a:endParaRPr lang="en-US" sz="125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a.max()       # 45   (값)</a:t>
            </a:r>
            <a:endParaRPr lang="en-US" sz="125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a.argmax()    # 1    (위치: 첫 최댓값)</a:t>
            </a:r>
            <a:endParaRPr lang="en-US" sz="125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a.argmin()    # 2    (위치)</a:t>
            </a:r>
            <a:endParaRPr lang="en-US" sz="1250" dirty="0"/>
          </a:p>
          <a:p>
            <a:pPr algn="l" indent="0" marL="0">
              <a:lnSpc>
                <a:spcPts val="1800"/>
              </a:lnSpc>
              <a:buNone/>
            </a:pPr>
            <a:endParaRPr lang="en-US" sz="125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prof.argmax()   # 가장 밝은 지점의 위치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303520" y="1965960"/>
            <a:ext cx="3383280" cy="2286000"/>
          </a:xfrm>
          <a:prstGeom prst="roundRect">
            <a:avLst>
              <a:gd name="adj" fmla="val 3200"/>
            </a:avLst>
          </a:prstGeom>
          <a:solidFill>
            <a:srgbClr val="F0FDF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532120" y="214884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6B61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계측에서의 쓰임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532120" y="2560320"/>
            <a:ext cx="292608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9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34E4A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가장 밝은 픽셀의 위치 찾기</a:t>
            </a:r>
            <a:endParaRPr lang="en-US" sz="1250" dirty="0"/>
          </a:p>
          <a:p>
            <a:pPr marL="342900" indent="-342900">
              <a:lnSpc>
                <a:spcPts val="19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34E4A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엣지 = gradient 가 최대인 위치</a:t>
            </a:r>
            <a:endParaRPr lang="en-US" sz="1250" dirty="0"/>
          </a:p>
          <a:p>
            <a:pPr indent="0" marL="0">
              <a:lnSpc>
                <a:spcPts val="1900"/>
              </a:lnSpc>
              <a:spcAft>
                <a:spcPts val="500"/>
              </a:spcAft>
              <a:buNone/>
            </a:pPr>
            <a:r>
              <a:rPr lang="en-US" sz="1250" dirty="0">
                <a:solidFill>
                  <a:srgbClr val="134E4A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→ i = np.argmax(gradient)</a:t>
            </a:r>
            <a:endParaRPr lang="en-US" sz="1250" dirty="0"/>
          </a:p>
          <a:p>
            <a:pPr indent="0" marL="0">
              <a:lnSpc>
                <a:spcPts val="1900"/>
              </a:lnSpc>
              <a:spcAft>
                <a:spcPts val="500"/>
              </a:spcAft>
              <a:buNone/>
            </a:pPr>
            <a:r>
              <a:rPr lang="en-US" sz="1250" dirty="0">
                <a:solidFill>
                  <a:srgbClr val="134E4A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(Phase 6 서브픽셀로 이어짐)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F2A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18872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5EEAD4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실습 안내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640080" y="169164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배열로 이미지 다뤄보기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2743200"/>
            <a:ext cx="78638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8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E2E8F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예제 이미지를 만들어 shape · dtype 확인하기</a:t>
            </a:r>
            <a:endParaRPr lang="en-US" sz="1600" dirty="0"/>
          </a:p>
          <a:p>
            <a:pPr marL="342900" indent="-342900">
              <a:lnSpc>
                <a:spcPts val="28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E2E8F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슬라이싱으로 ROI 잘라내고 값 바꿔보기</a:t>
            </a:r>
            <a:endParaRPr lang="en-US" sz="1600" dirty="0"/>
          </a:p>
          <a:p>
            <a:pPr marL="342900" indent="-342900">
              <a:lnSpc>
                <a:spcPts val="28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E2E8F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조건 마스크로 특정 밝기 픽셀만 세기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416052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i="1" dirty="0">
                <a:solidFill>
                  <a:srgbClr val="94A3B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실습: 03_numpy_image.ipynb · 03_practice.ipynb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Phase 3 · NumPy, 배열로서의 이미지</dc:title>
  <dc:subject>PptxGenJS Presentation</dc:subject>
  <dc:creator>교육팀</dc:creator>
  <cp:lastModifiedBy>교육팀</cp:lastModifiedBy>
  <cp:revision>1</cp:revision>
  <dcterms:created xsi:type="dcterms:W3CDTF">2026-07-02T05:16:39Z</dcterms:created>
  <dcterms:modified xsi:type="dcterms:W3CDTF">2026-07-02T05:16:39Z</dcterms:modified>
</cp:coreProperties>
</file>